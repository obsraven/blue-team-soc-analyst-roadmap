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 &amp; SOC ANALYST ROADMAP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21040" y="65562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DEFENSIVE SECURITY LEARNING GUIDE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attack.mitre.org/" TargetMode="External"/><Relationship Id="rId2" Type="http://schemas.openxmlformats.org/officeDocument/2006/relationships/hyperlink" Target="https://attack.mitre.org/" TargetMode="External"/><Relationship Id="rId3" Type="http://schemas.openxmlformats.org/officeDocument/2006/relationships/hyperlink" Target="https://sigmahq.io/" TargetMode="External"/><Relationship Id="rId4" Type="http://schemas.openxmlformats.org/officeDocument/2006/relationships/hyperlink" Target="https://sigmahq.io/" TargetMode="External"/><Relationship Id="rId5" Type="http://schemas.openxmlformats.org/officeDocument/2006/relationships/hyperlink" Target="https://docs.securityonion.net/" TargetMode="External"/><Relationship Id="rId6" Type="http://schemas.openxmlformats.org/officeDocument/2006/relationships/hyperlink" Target="https://docs.securityonion.net/" TargetMode="External"/><Relationship Id="rId7" Type="http://schemas.openxmlformats.org/officeDocument/2006/relationships/hyperlink" Target="https://documentation.wazuh.com/" TargetMode="External"/><Relationship Id="rId8" Type="http://schemas.openxmlformats.org/officeDocument/2006/relationships/hyperlink" Target="https://documentation.wazuh.com/" TargetMode="External"/><Relationship Id="rId9" Type="http://schemas.openxmlformats.org/officeDocument/2006/relationships/hyperlink" Target="https://letsdefend.io/" TargetMode="External"/><Relationship Id="rId10" Type="http://schemas.openxmlformats.org/officeDocument/2006/relationships/hyperlink" Target="https://letsdefend.io/" TargetMode="External"/><Relationship Id="rId11" Type="http://schemas.openxmlformats.org/officeDocument/2006/relationships/hyperlink" Target="https://cyberdefenders.org/" TargetMode="External"/><Relationship Id="rId12" Type="http://schemas.openxmlformats.org/officeDocument/2006/relationships/hyperlink" Target="https://cyberdefenders.org/" TargetMode="External"/><Relationship Id="rId13" Type="http://schemas.openxmlformats.org/officeDocument/2006/relationships/hyperlink" Target="https://www.malware-traffic-analysis.net/" TargetMode="External"/><Relationship Id="rId14" Type="http://schemas.openxmlformats.org/officeDocument/2006/relationships/hyperlink" Target="https://www.malware-traffic-analysis.net/" TargetMode="External"/><Relationship Id="rId15" Type="http://schemas.openxmlformats.org/officeDocument/2006/relationships/hyperlink" Target="https://www.cisa.gov/ | https://csrc.nist.gov/" TargetMode="External"/><Relationship Id="rId16" Type="http://schemas.openxmlformats.org/officeDocument/2006/relationships/hyperlink" Target="https://www.cisa.gov/ | https://csrc.nist.gov/" TargetMode="External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attack.mitre.org/" TargetMode="External"/><Relationship Id="rId2" Type="http://schemas.openxmlformats.org/officeDocument/2006/relationships/hyperlink" Target="https://sigmahq.io/" TargetMode="External"/><Relationship Id="rId3" Type="http://schemas.openxmlformats.org/officeDocument/2006/relationships/hyperlink" Target="https://learn.microsoft.com/sysinternals/downloads/sysmon" TargetMode="External"/><Relationship Id="rId4" Type="http://schemas.openxmlformats.org/officeDocument/2006/relationships/hyperlink" Target="https://docs.securityonion.net/" TargetMode="External"/><Relationship Id="rId5" Type="http://schemas.openxmlformats.org/officeDocument/2006/relationships/hyperlink" Target="https://documentation.wazuh.com/" TargetMode="External"/><Relationship Id="rId6" Type="http://schemas.openxmlformats.org/officeDocument/2006/relationships/hyperlink" Target="https://csrc.nist.gov/pubs/sp/800/61/r3/final" TargetMode="External"/><Relationship Id="rId7" Type="http://schemas.openxmlformats.org/officeDocument/2006/relationships/hyperlink" Target="https://docs.zeek.org/" TargetMode="Externa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digital_illustration_of_a_futur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D">
              <a:alpha val="82000"/>
            </a:srgbClr>
          </a:solidFill>
          <a:ln w="12700">
            <a:solidFill>
              <a:srgbClr val="0610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6101D">
              <a:alpha val="95000"/>
            </a:srgbClr>
          </a:solidFill>
          <a:ln w="12700">
            <a:solidFill>
              <a:srgbClr val="06101D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6656" y="749808"/>
            <a:ext cx="265176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813816"/>
            <a:ext cx="2505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DEFENSIVE SECURITY GUIDE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5212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Analyst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2026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13232" y="3703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5D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logs to detection, investigation, response, and Purple Team validation.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3232" y="4773168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practical, tool-aware roadmap for people starting defensive cybersecurity — without requiring an expensive lab or a university program.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13232" y="6080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Learning Project • Updated October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Blue Team work actually 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 security is not “watching alerts.” It is building reliable evidence, judgment, and response.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85216" y="1719072"/>
            <a:ext cx="2615184" cy="3429000"/>
          </a:xfrm>
          <a:prstGeom prst="roundRect">
            <a:avLst>
              <a:gd name="adj" fmla="val 489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719072"/>
            <a:ext cx="45720" cy="3429000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8366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6384" y="2267712"/>
            <a:ext cx="2304288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the right telemetry from endpoints, identity, network, cloud, applications, and security controls.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1719072"/>
            <a:ext cx="2615184" cy="3429000"/>
          </a:xfrm>
          <a:prstGeom prst="roundRect">
            <a:avLst>
              <a:gd name="adj" fmla="val 489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1719072"/>
            <a:ext cx="45720" cy="3429000"/>
          </a:xfrm>
          <a:prstGeom prst="rect">
            <a:avLst/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88366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267712"/>
            <a:ext cx="2304288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signals into hypotheses. Validate what happened, who was affected, and how confident you are.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44768" y="1719072"/>
            <a:ext cx="2615184" cy="3429000"/>
          </a:xfrm>
          <a:prstGeom prst="roundRect">
            <a:avLst>
              <a:gd name="adj" fmla="val 489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4768" y="1719072"/>
            <a:ext cx="45720" cy="342900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188366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45936" y="2267712"/>
            <a:ext cx="2304288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Escalate, contain, preserve evidence, eradicate, recover, and communicate without making the incident worse.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24544" y="1719072"/>
            <a:ext cx="2615184" cy="3429000"/>
          </a:xfrm>
          <a:prstGeom prst="roundRect">
            <a:avLst>
              <a:gd name="adj" fmla="val 489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24544" y="1719072"/>
            <a:ext cx="45720" cy="3429000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25712" y="188366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25712" y="2267712"/>
            <a:ext cx="2304288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detections, tune noisy rules, close visibility gaps, update playbooks, and retest against realistic behavior.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4498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D5FF"/>
                </a:solidFill>
              </a:rPr>
              <a:t>Core mindset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742432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3F7FC"/>
                </a:solidFill>
              </a:rPr>
              <a:t>Logs are evidence. Alerts are hypotheses. Your job is to investigate until the story makes sense.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memorize a tool list. Build one investigation skill at a time, then prove it with evidence.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LOOP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3493008" cy="1572768"/>
          </a:xfrm>
          <a:prstGeom prst="roundRect">
            <a:avLst>
              <a:gd name="adj" fmla="val 814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901952"/>
            <a:ext cx="502920" cy="502920"/>
          </a:xfrm>
          <a:prstGeom prst="ellipse">
            <a:avLst/>
          </a:prstGeom>
          <a:solidFill>
            <a:srgbClr val="37D5FF">
              <a:alpha val="9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993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892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C"/>
                </a:solidFill>
              </a:rPr>
              <a:t>LEARN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25856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DB0C8"/>
                </a:solidFill>
              </a:rPr>
              <a:t>Understand the protocol, operating system, identity flow, or attack behavior.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493008" cy="1572768"/>
          </a:xfrm>
          <a:prstGeom prst="roundRect">
            <a:avLst>
              <a:gd name="adj" fmla="val 814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1901952"/>
            <a:ext cx="502920" cy="502920"/>
          </a:xfrm>
          <a:prstGeom prst="ellipse">
            <a:avLst/>
          </a:prstGeom>
          <a:solidFill>
            <a:srgbClr val="37D5FF">
              <a:alpha val="9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993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1892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C"/>
                </a:solidFill>
              </a:rPr>
              <a:t>INSTRUMENT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66360" y="225856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DB0C8"/>
                </a:solidFill>
              </a:rPr>
              <a:t>Generate or collect telemetry that would reveal the behavior.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092440" y="1691640"/>
            <a:ext cx="3493008" cy="1572768"/>
          </a:xfrm>
          <a:prstGeom prst="roundRect">
            <a:avLst>
              <a:gd name="adj" fmla="val 814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901952"/>
            <a:ext cx="502920" cy="502920"/>
          </a:xfrm>
          <a:prstGeom prst="ellipse">
            <a:avLst/>
          </a:prstGeom>
          <a:solidFill>
            <a:srgbClr val="37D5FF">
              <a:alpha val="9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993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15400" y="1892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C"/>
                </a:solidFill>
              </a:rPr>
              <a:t>INVESTIGATE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15400" y="225856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DB0C8"/>
                </a:solidFill>
              </a:rPr>
              <a:t>Search, pivot, correlate, build a timeline, and test competing explanations.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94360" y="3575304"/>
            <a:ext cx="3493008" cy="1572768"/>
          </a:xfrm>
          <a:prstGeom prst="roundRect">
            <a:avLst>
              <a:gd name="adj" fmla="val 814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3785616"/>
            <a:ext cx="502920" cy="502920"/>
          </a:xfrm>
          <a:prstGeom prst="ellipse">
            <a:avLst/>
          </a:prstGeom>
          <a:solidFill>
            <a:srgbClr val="37D5FF">
              <a:alpha val="9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8770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37764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C"/>
                </a:solidFill>
              </a:rPr>
              <a:t>EXPLAIN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414223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DB0C8"/>
                </a:solidFill>
              </a:rPr>
              <a:t>Write what happened in plain language with evidence and confidence.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343400" y="3575304"/>
            <a:ext cx="3493008" cy="1572768"/>
          </a:xfrm>
          <a:prstGeom prst="roundRect">
            <a:avLst>
              <a:gd name="adj" fmla="val 814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7992" y="3785616"/>
            <a:ext cx="502920" cy="502920"/>
          </a:xfrm>
          <a:prstGeom prst="ellipse">
            <a:avLst/>
          </a:prstGeom>
          <a:solidFill>
            <a:srgbClr val="37D5FF">
              <a:alpha val="9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38770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37764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C"/>
                </a:solidFill>
              </a:rPr>
              <a:t>IMPROVE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66360" y="414223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DB0C8"/>
                </a:solidFill>
              </a:rPr>
              <a:t>Create or tune a detection, playbook, query, or hardening action.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092440" y="3575304"/>
            <a:ext cx="3493008" cy="1572768"/>
          </a:xfrm>
          <a:prstGeom prst="roundRect">
            <a:avLst>
              <a:gd name="adj" fmla="val 814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785616"/>
            <a:ext cx="502920" cy="502920"/>
          </a:xfrm>
          <a:prstGeom prst="ellipse">
            <a:avLst/>
          </a:prstGeom>
          <a:solidFill>
            <a:srgbClr val="37D5FF">
              <a:alpha val="9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8770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15400" y="37764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C"/>
                </a:solidFill>
              </a:rPr>
              <a:t>RETEST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915400" y="414223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DB0C8"/>
                </a:solidFill>
              </a:rPr>
              <a:t>Reproduce the behavior and verify that the defense now works.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658368" y="59070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E0A6"/>
                </a:solidFill>
              </a:rPr>
              <a:t>Rule of thumb: every study session should answer one question better than you could yesterday.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12–18 month progression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in layers. Foundations first; specialization after you can reliably investigate evidence.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03504" y="1600200"/>
            <a:ext cx="1325880" cy="434340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600200"/>
            <a:ext cx="1325880" cy="73152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828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D5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2212848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7FC"/>
                </a:solidFill>
              </a:rPr>
              <a:t>FOUNDATIONS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3017520"/>
            <a:ext cx="1124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9DB0C8"/>
                </a:solidFill>
              </a:rPr>
              <a:t>Networking • Linux • Windows • DNS • HTTP/TLS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704088" y="5349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</a:rPr>
              <a:t>0–2 mo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29384" y="3749040"/>
            <a:ext cx="73152" cy="0"/>
          </a:xfrm>
          <a:prstGeom prst="line">
            <a:avLst/>
          </a:prstGeom>
          <a:noFill/>
          <a:ln w="20320">
            <a:solidFill>
              <a:srgbClr val="37D5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020824" y="1600200"/>
            <a:ext cx="1325880" cy="434340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0824" y="1600200"/>
            <a:ext cx="1325880" cy="73152"/>
          </a:xfrm>
          <a:prstGeom prst="rect">
            <a:avLst/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828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21408" y="2212848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7FC"/>
                </a:solidFill>
              </a:rPr>
              <a:t>LOGS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21408" y="3017520"/>
            <a:ext cx="1124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9DB0C8"/>
                </a:solidFill>
              </a:rPr>
              <a:t>Windows events • Sysmon • auth • app logs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2121408" y="5349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85FF"/>
                </a:solidFill>
              </a:rPr>
              <a:t>2–4 mo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46704" y="3749040"/>
            <a:ext cx="73152" cy="0"/>
          </a:xfrm>
          <a:prstGeom prst="line">
            <a:avLst/>
          </a:prstGeom>
          <a:noFill/>
          <a:ln w="20320">
            <a:solidFill>
              <a:srgbClr val="4285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38144" y="1600200"/>
            <a:ext cx="1325880" cy="434340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38144" y="1600200"/>
            <a:ext cx="1325880" cy="73152"/>
          </a:xfrm>
          <a:prstGeom prst="rect">
            <a:avLst/>
          </a:prstGeom>
          <a:solidFill>
            <a:srgbClr val="926BFF"/>
          </a:solidFill>
          <a:ln w="12700">
            <a:solidFill>
              <a:srgbClr val="92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1828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6B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38728" y="2212848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7FC"/>
                </a:solidFill>
              </a:rPr>
              <a:t>SIEM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38728" y="3017520"/>
            <a:ext cx="1124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9DB0C8"/>
                </a:solidFill>
              </a:rPr>
              <a:t>Search • fields • pivots • dashboards • alert triage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3538728" y="5349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6BFF"/>
                </a:solidFill>
              </a:rPr>
              <a:t>3–6 mo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64024" y="3749040"/>
            <a:ext cx="73152" cy="0"/>
          </a:xfrm>
          <a:prstGeom prst="line">
            <a:avLst/>
          </a:prstGeom>
          <a:noFill/>
          <a:ln w="20320">
            <a:solidFill>
              <a:srgbClr val="926BF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55464" y="1600200"/>
            <a:ext cx="1325880" cy="434340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55464" y="1600200"/>
            <a:ext cx="1325880" cy="73152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828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E0A6"/>
                </a:solidFill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56048" y="2212848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7FC"/>
                </a:solidFill>
              </a:rPr>
              <a:t>NETWORK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56048" y="3017520"/>
            <a:ext cx="1124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9DB0C8"/>
                </a:solidFill>
              </a:rPr>
              <a:t>Wireshark • Zeek • Suricata • PCAP reasoning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4956048" y="5349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E0A6"/>
                </a:solidFill>
              </a:rPr>
              <a:t>5–8 mo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81344" y="3749040"/>
            <a:ext cx="73152" cy="0"/>
          </a:xfrm>
          <a:prstGeom prst="line">
            <a:avLst/>
          </a:prstGeom>
          <a:noFill/>
          <a:ln w="20320">
            <a:solidFill>
              <a:srgbClr val="4FE0A6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72784" y="1600200"/>
            <a:ext cx="1325880" cy="434340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72784" y="1600200"/>
            <a:ext cx="1325880" cy="73152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3368" y="1828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547"/>
                </a:solidFill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73368" y="2212848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7FC"/>
                </a:solidFill>
              </a:rPr>
              <a:t>DETECTION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73368" y="3017520"/>
            <a:ext cx="1124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9DB0C8"/>
                </a:solidFill>
              </a:rPr>
              <a:t>Sigma • ATT&amp;CK • baselining • tuning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6373368" y="5349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547"/>
                </a:solidFill>
              </a:rPr>
              <a:t>7–11 mo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98664" y="3749040"/>
            <a:ext cx="73152" cy="0"/>
          </a:xfrm>
          <a:prstGeom prst="line">
            <a:avLst/>
          </a:prstGeom>
          <a:noFill/>
          <a:ln w="20320">
            <a:solidFill>
              <a:srgbClr val="FFB547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690104" y="1600200"/>
            <a:ext cx="1325880" cy="434340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0104" y="1600200"/>
            <a:ext cx="1325880" cy="73152"/>
          </a:xfrm>
          <a:prstGeom prst="rect">
            <a:avLst/>
          </a:prstGeom>
          <a:solidFill>
            <a:srgbClr val="FF5F73"/>
          </a:solidFill>
          <a:ln w="12700">
            <a:solidFill>
              <a:srgbClr val="FF5F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90688" y="1828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F73"/>
                </a:solidFill>
              </a:rPr>
              <a:t>06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90688" y="2212848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7FC"/>
                </a:solidFill>
              </a:rPr>
              <a:t>IR / DFIR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90688" y="3017520"/>
            <a:ext cx="1124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9DB0C8"/>
                </a:solidFill>
              </a:rPr>
              <a:t>scoping • timelines • artifacts • containment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7790688" y="5349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F73"/>
                </a:solidFill>
              </a:rPr>
              <a:t>9–13 mo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015984" y="3749040"/>
            <a:ext cx="73152" cy="0"/>
          </a:xfrm>
          <a:prstGeom prst="line">
            <a:avLst/>
          </a:prstGeom>
          <a:noFill/>
          <a:ln w="20320">
            <a:solidFill>
              <a:srgbClr val="FF5F73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107424" y="1600200"/>
            <a:ext cx="1325880" cy="434340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07424" y="1600200"/>
            <a:ext cx="1325880" cy="73152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08008" y="1828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D5FF"/>
                </a:solidFill>
              </a:rPr>
              <a:t>07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208008" y="2212848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7FC"/>
                </a:solidFill>
              </a:rPr>
              <a:t>HUNTING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208008" y="3017520"/>
            <a:ext cx="1124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9DB0C8"/>
                </a:solidFill>
              </a:rPr>
              <a:t>hypothesis-driven hunts • intel • anomalies</a:t>
            </a:r>
            <a:endParaRPr lang="en-US" sz="960" dirty="0"/>
          </a:p>
        </p:txBody>
      </p:sp>
      <p:sp>
        <p:nvSpPr>
          <p:cNvPr id="53" name="Text 51"/>
          <p:cNvSpPr/>
          <p:nvPr/>
        </p:nvSpPr>
        <p:spPr>
          <a:xfrm>
            <a:off x="9208008" y="5349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</a:rPr>
              <a:t>11–15 mo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0433304" y="3749040"/>
            <a:ext cx="73152" cy="0"/>
          </a:xfrm>
          <a:prstGeom prst="line">
            <a:avLst/>
          </a:prstGeom>
          <a:noFill/>
          <a:ln w="20320">
            <a:solidFill>
              <a:srgbClr val="37D5FF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10524744" y="1600200"/>
            <a:ext cx="1325880" cy="434340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524744" y="1600200"/>
            <a:ext cx="1325880" cy="73152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625328" y="1828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E0A6"/>
                </a:solidFill>
              </a:rPr>
              <a:t>08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625328" y="2212848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3F7FC"/>
                </a:solidFill>
              </a:rPr>
              <a:t>PURPLE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0625328" y="3017520"/>
            <a:ext cx="1124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9DB0C8"/>
                </a:solidFill>
              </a:rPr>
              <a:t>simulate → observe → detect → improve → retest</a:t>
            </a:r>
            <a:endParaRPr lang="en-US" sz="960" dirty="0"/>
          </a:p>
        </p:txBody>
      </p:sp>
      <p:sp>
        <p:nvSpPr>
          <p:cNvPr id="60" name="Text 58"/>
          <p:cNvSpPr/>
          <p:nvPr/>
        </p:nvSpPr>
        <p:spPr>
          <a:xfrm>
            <a:off x="10625328" y="5349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E0A6"/>
                </a:solidFill>
              </a:rPr>
              <a:t>12–18 mo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Foundations defenders actually use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SOC analyst who understands normal systems behavior can recognize abnormal behavior much faster.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2743200" cy="4315968"/>
          </a:xfrm>
          <a:prstGeom prst="roundRect">
            <a:avLst>
              <a:gd name="adj" fmla="val 4667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45720" cy="4315968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82880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5528" y="2212848"/>
            <a:ext cx="2432304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TCP/UDP • subnetting • routing • NAT • DNS • DHCP • ARP • HTTP/HTTPS • TLS • SMB • common ports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packet captures, DNS lookups, connection states, client/server flows.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520440" y="1664208"/>
            <a:ext cx="2743200" cy="4315968"/>
          </a:xfrm>
          <a:prstGeom prst="roundRect">
            <a:avLst>
              <a:gd name="adj" fmla="val 4667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664208"/>
            <a:ext cx="45720" cy="4315968"/>
          </a:xfrm>
          <a:prstGeom prst="rect">
            <a:avLst/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182880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21608" y="2212848"/>
            <a:ext cx="2432304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Event Viewer • services • registry • scheduled tasks • PowerShell • Linux processes • systemd • journald • permissions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explain what “normal” looks like before hunting malicious behavior.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446520" y="1664208"/>
            <a:ext cx="2514600" cy="4315968"/>
          </a:xfrm>
          <a:prstGeom prst="roundRect">
            <a:avLst>
              <a:gd name="adj" fmla="val 5091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664208"/>
            <a:ext cx="45720" cy="4315968"/>
          </a:xfrm>
          <a:prstGeom prst="rect">
            <a:avLst/>
          </a:prstGeom>
          <a:solidFill>
            <a:srgbClr val="926BFF"/>
          </a:solidFill>
          <a:ln w="12700">
            <a:solidFill>
              <a:srgbClr val="92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182880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47688" y="2212848"/>
            <a:ext cx="2203704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• local vs domain accounts • Kerberos basics • NTLM • MFA • SSO • tokens • service accounts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trace an authentication from user to resource.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9144000" y="1664208"/>
            <a:ext cx="2450592" cy="4315968"/>
          </a:xfrm>
          <a:prstGeom prst="roundRect">
            <a:avLst>
              <a:gd name="adj" fmla="val 5224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1664208"/>
            <a:ext cx="45720" cy="4315968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182880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345168" y="2212848"/>
            <a:ext cx="2139696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basics • PowerShell • Bash • regex • JSON • CSV • APIs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automate repetitive analysis, not become a software engineer first.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before tooling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detect what you never collected. Learn what each data source can and cannot prove.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sz="950" dirty="0"/>
          </a:p>
        </p:txBody>
      </p:sp>
      <p:pic>
        <p:nvPicPr>
          <p:cNvPr id="6" name="Image 0" descr="/mnt/data/a_high_tech_neon_isometric_infographic_illustrat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508760"/>
            <a:ext cx="6172200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" y="1627632"/>
            <a:ext cx="4526280" cy="960120"/>
          </a:xfrm>
          <a:prstGeom prst="roundRect">
            <a:avLst>
              <a:gd name="adj" fmla="val 13333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5216" y="1627632"/>
            <a:ext cx="45720" cy="960120"/>
          </a:xfrm>
          <a:prstGeom prst="rect">
            <a:avLst/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792224"/>
            <a:ext cx="4215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6384" y="2176272"/>
            <a:ext cx="421538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Event Logs • Sysmon • EDR • process • file • registry • PowerShell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5216" y="2724912"/>
            <a:ext cx="4526280" cy="960120"/>
          </a:xfrm>
          <a:prstGeom prst="roundRect">
            <a:avLst>
              <a:gd name="adj" fmla="val 13333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2724912"/>
            <a:ext cx="45720" cy="960120"/>
          </a:xfrm>
          <a:prstGeom prst="rect">
            <a:avLst/>
          </a:prstGeom>
          <a:solidFill>
            <a:srgbClr val="926BFF"/>
          </a:solidFill>
          <a:ln w="12700">
            <a:solidFill>
              <a:srgbClr val="926B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2889504"/>
            <a:ext cx="4215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86384" y="3273552"/>
            <a:ext cx="421538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AD/Entra sign-ins • Kerberos/NTLM • MFA • account changes • privilege use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5216" y="3822192"/>
            <a:ext cx="4526280" cy="960120"/>
          </a:xfrm>
          <a:prstGeom prst="roundRect">
            <a:avLst>
              <a:gd name="adj" fmla="val 13333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3822192"/>
            <a:ext cx="45720" cy="960120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3986784"/>
            <a:ext cx="4215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86384" y="4370832"/>
            <a:ext cx="421538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• flow • Zeek metadata • Suricata alerts • proxy • firewall • packet capture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85216" y="4919472"/>
            <a:ext cx="4526280" cy="960120"/>
          </a:xfrm>
          <a:prstGeom prst="roundRect">
            <a:avLst>
              <a:gd name="adj" fmla="val 13333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5216" y="4919472"/>
            <a:ext cx="45720" cy="960120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5084064"/>
            <a:ext cx="4215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/ APPS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86384" y="5468112"/>
            <a:ext cx="421538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audit logs • SaaS auth • web/app logs • database audit • API activity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577840" y="57972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9DB0C8"/>
                </a:solidFill>
              </a:rPr>
              <a:t>2026 note: Sysmon is available as a built-in optional feature for Windows 11, in addition to the traditional Sysinternals package.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 alert lifecycle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alert is the beginning of an investigation—not the conclusion.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1691640" cy="2971800"/>
          </a:xfrm>
          <a:prstGeom prst="roundRect">
            <a:avLst>
              <a:gd name="adj" fmla="val 7568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28800"/>
            <a:ext cx="45720" cy="2971800"/>
          </a:xfrm>
          <a:prstGeom prst="rect">
            <a:avLst/>
          </a:prstGeom>
          <a:solidFill>
            <a:srgbClr val="FF5F73"/>
          </a:solidFill>
          <a:ln w="12700">
            <a:solidFill>
              <a:srgbClr val="FF5F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99339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377440"/>
            <a:ext cx="1380744" cy="2258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fired?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logic produced it?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2258568" y="3310128"/>
            <a:ext cx="173736" cy="0"/>
          </a:xfrm>
          <a:prstGeom prst="line">
            <a:avLst/>
          </a:prstGeom>
          <a:noFill/>
          <a:ln w="25400">
            <a:solidFill>
              <a:srgbClr val="FF5F7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9736" y="1828800"/>
            <a:ext cx="1691640" cy="2971800"/>
          </a:xfrm>
          <a:prstGeom prst="roundRect">
            <a:avLst>
              <a:gd name="adj" fmla="val 7568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9736" y="1828800"/>
            <a:ext cx="45720" cy="297180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0904" y="199339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60904" y="2377440"/>
            <a:ext cx="1380744" cy="2258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signal real, benign, expected, or unknown?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4151376" y="3310128"/>
            <a:ext cx="173736" cy="0"/>
          </a:xfrm>
          <a:prstGeom prst="line">
            <a:avLst/>
          </a:prstGeom>
          <a:noFill/>
          <a:ln w="25400">
            <a:solidFill>
              <a:srgbClr val="FFB54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52544" y="1828800"/>
            <a:ext cx="1691640" cy="2971800"/>
          </a:xfrm>
          <a:prstGeom prst="roundRect">
            <a:avLst>
              <a:gd name="adj" fmla="val 7568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52544" y="1828800"/>
            <a:ext cx="45720" cy="2971800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199339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53712" y="2377440"/>
            <a:ext cx="1380744" cy="2258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users, hosts, IPs, files, accounts, or sessions are involved?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044184" y="3310128"/>
            <a:ext cx="173736" cy="0"/>
          </a:xfrm>
          <a:prstGeom prst="line">
            <a:avLst/>
          </a:prstGeom>
          <a:noFill/>
          <a:ln w="25400">
            <a:solidFill>
              <a:srgbClr val="37D5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45352" y="1828800"/>
            <a:ext cx="1691640" cy="2971800"/>
          </a:xfrm>
          <a:prstGeom prst="roundRect">
            <a:avLst>
              <a:gd name="adj" fmla="val 7568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828800"/>
            <a:ext cx="45720" cy="2971800"/>
          </a:xfrm>
          <a:prstGeom prst="rect">
            <a:avLst/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99339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2377440"/>
            <a:ext cx="1380744" cy="2258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across endpoint, identity, network, and cloud evidence.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7936992" y="3310128"/>
            <a:ext cx="173736" cy="0"/>
          </a:xfrm>
          <a:prstGeom prst="line">
            <a:avLst/>
          </a:prstGeom>
          <a:noFill/>
          <a:ln w="25400">
            <a:solidFill>
              <a:srgbClr val="4285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38160" y="1828800"/>
            <a:ext cx="1691640" cy="2971800"/>
          </a:xfrm>
          <a:prstGeom prst="roundRect">
            <a:avLst>
              <a:gd name="adj" fmla="val 7568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828800"/>
            <a:ext cx="45720" cy="2971800"/>
          </a:xfrm>
          <a:prstGeom prst="rect">
            <a:avLst/>
          </a:prstGeom>
          <a:solidFill>
            <a:srgbClr val="926BFF"/>
          </a:solidFill>
          <a:ln w="12700">
            <a:solidFill>
              <a:srgbClr val="926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199339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39328" y="2377440"/>
            <a:ext cx="1380744" cy="2258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• monitor • escalate • contain • preserve evidence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9829800" y="3310128"/>
            <a:ext cx="173736" cy="0"/>
          </a:xfrm>
          <a:prstGeom prst="line">
            <a:avLst/>
          </a:prstGeom>
          <a:noFill/>
          <a:ln w="25400">
            <a:solidFill>
              <a:srgbClr val="926B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30968" y="1828800"/>
            <a:ext cx="1691640" cy="2971800"/>
          </a:xfrm>
          <a:prstGeom prst="roundRect">
            <a:avLst>
              <a:gd name="adj" fmla="val 7568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30968" y="1828800"/>
            <a:ext cx="45720" cy="2971800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32136" y="199339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232136" y="2377440"/>
            <a:ext cx="1380744" cy="2258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• tune • add detection • fix visibility • retest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1005840" y="5285232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F7FC"/>
                </a:solidFill>
              </a:rPr>
              <a:t>A good Tier 1 analyst does not “solve every incident.” A good analyst gathers enough reliable evidence to make the next decision safe and efficient.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defensive toolkit — organized by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are useful only when you know what evidence you are trying to obtain.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STACK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03504" y="1627632"/>
            <a:ext cx="5413248" cy="1298448"/>
          </a:xfrm>
          <a:prstGeom prst="roundRect">
            <a:avLst>
              <a:gd name="adj" fmla="val 9859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627632"/>
            <a:ext cx="45720" cy="1298448"/>
          </a:xfrm>
          <a:prstGeom prst="rect">
            <a:avLst/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92224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on the endpoint?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176272"/>
            <a:ext cx="510235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Event Logs • Sysmon • Velociraptor • osquery • Sysinternals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6309360" y="1627632"/>
            <a:ext cx="5413248" cy="1298448"/>
          </a:xfrm>
          <a:prstGeom prst="roundRect">
            <a:avLst>
              <a:gd name="adj" fmla="val 9859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627632"/>
            <a:ext cx="45720" cy="1298448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792224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crossed the network?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10528" y="2176272"/>
            <a:ext cx="510235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• Zeek • Suricata • tcpdump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603504" y="3145536"/>
            <a:ext cx="5413248" cy="1298448"/>
          </a:xfrm>
          <a:prstGeom prst="roundRect">
            <a:avLst>
              <a:gd name="adj" fmla="val 9859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3145536"/>
            <a:ext cx="45720" cy="1298448"/>
          </a:xfrm>
          <a:prstGeom prst="rect">
            <a:avLst/>
          </a:prstGeom>
          <a:solidFill>
            <a:srgbClr val="926BFF"/>
          </a:solidFill>
          <a:ln w="12700">
            <a:solidFill>
              <a:srgbClr val="92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3101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I search at scale?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4672" y="3694176"/>
            <a:ext cx="510235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• Security Onion • Elastic/OpenSearch-style SIEM workflows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309360" y="3145536"/>
            <a:ext cx="5413248" cy="1298448"/>
          </a:xfrm>
          <a:prstGeom prst="roundRect">
            <a:avLst>
              <a:gd name="adj" fmla="val 9859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145536"/>
            <a:ext cx="45720" cy="1298448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33101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express detections?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10528" y="3694176"/>
            <a:ext cx="510235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 • YARA • Suricata rules • native SIEM queries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03504" y="4663440"/>
            <a:ext cx="5413248" cy="1298448"/>
          </a:xfrm>
          <a:prstGeom prst="roundRect">
            <a:avLst>
              <a:gd name="adj" fmla="val 9859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" y="4663440"/>
            <a:ext cx="45720" cy="1298448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828032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enrich evidence?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04672" y="5212080"/>
            <a:ext cx="510235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CyberChef • VirusTotal/public reputation • WHOIS/DNS • threat intel feeds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6309360" y="4663440"/>
            <a:ext cx="5413248" cy="1298448"/>
          </a:xfrm>
          <a:prstGeom prst="roundRect">
            <a:avLst>
              <a:gd name="adj" fmla="val 9859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4663440"/>
            <a:ext cx="45720" cy="1298448"/>
          </a:xfrm>
          <a:prstGeom prst="rect">
            <a:avLst/>
          </a:prstGeom>
          <a:solidFill>
            <a:srgbClr val="FF5F73"/>
          </a:solidFill>
          <a:ln w="12700">
            <a:solidFill>
              <a:srgbClr val="FF5F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4828032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validate defenses?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10528" y="5212080"/>
            <a:ext cx="510235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Red Team • safe lab simulations • known PCAP/log datasets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822960" y="6172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4FE0A6"/>
                </a:solidFill>
              </a:rPr>
              <a:t>Do not install everything at once. Learn one tool deeply enough to answer one class of questions, then expand.</a:t>
            </a:r>
            <a:endParaRPr lang="en-US" sz="13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methodology — stay on one evidence thread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repeatable method prevents “tool hopping” and makes your conclusions defensible.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FLOW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493776" cy="493776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801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3F7FC"/>
                </a:solidFill>
              </a:rPr>
              <a:t>What triggered?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463040" y="214884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Read the alert logic. Identify the entity, time window, and expected behavior.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453128" y="1627632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828800"/>
            <a:ext cx="493776" cy="493776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2024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801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3F7FC"/>
                </a:solidFill>
              </a:rPr>
              <a:t>Can I validate the event?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257800" y="214884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Find the raw log / packet / process / authentication event behind the alert.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8247888" y="1627632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828800"/>
            <a:ext cx="493776" cy="493776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92024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52560" y="1801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3F7FC"/>
                </a:solidFill>
              </a:rPr>
              <a:t>Is it normal here?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052560" y="214884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Compare with baseline, user role, parent process, destination, frequency, and business context.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58368" y="320040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401568"/>
            <a:ext cx="493776" cy="493776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49300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3374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3F7FC"/>
                </a:solidFill>
              </a:rPr>
              <a:t>What else is connected?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1463040" y="372160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Pivot by user, host, IP, hash, process tree, session, time, and identity changes.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4453128" y="320040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3401568"/>
            <a:ext cx="493776" cy="493776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49300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3374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3F7FC"/>
                </a:solidFill>
              </a:rPr>
              <a:t>What is the impact?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257800" y="372160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Decide whether evidence supports benign activity, suspicious behavior, or confirmed malicious activity.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8247888" y="320040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3401568"/>
            <a:ext cx="493776" cy="493776"/>
          </a:xfrm>
          <a:prstGeom prst="ellipse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349300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52560" y="3374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3F7FC"/>
                </a:solidFill>
              </a:rPr>
              <a:t>What is the safest next action?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9052560" y="372160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Close, monitor, escalate, contain, preserve, or request additional telemetry.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1097280" y="53492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547"/>
                </a:solidFill>
              </a:rPr>
              <a:t>Evidence hierarchy: raw telemetry &gt; correlated context &gt; tool verdict &gt; intuition.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lab that teaches real SOC 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small. One SIEM, one Windows endpoint, one Linux endpoint, and reproducible test data are enough.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BLUEPRINT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0" y="2194560"/>
            <a:ext cx="2971800" cy="1874520"/>
          </a:xfrm>
          <a:prstGeom prst="roundRect">
            <a:avLst>
              <a:gd name="adj" fmla="val 6829"/>
            </a:avLst>
          </a:prstGeom>
          <a:solidFill>
            <a:srgbClr val="132C46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26243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3F7FC"/>
                </a:solidFill>
              </a:rPr>
              <a:t>WAZUH OR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3F7FC"/>
                </a:solidFill>
              </a:rPr>
              <a:t>SECURITY ONION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892040" y="34015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9DB0C8"/>
                </a:solidFill>
              </a:rPr>
              <a:t>Search • alerts • dashboards • cases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3200400" cy="1234440"/>
          </a:xfrm>
          <a:prstGeom prst="roundRect">
            <a:avLst>
              <a:gd name="adj" fmla="val 1037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45920"/>
            <a:ext cx="45720" cy="1234440"/>
          </a:xfrm>
          <a:prstGeom prst="rect">
            <a:avLst/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81051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ENDPOINT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194560"/>
            <a:ext cx="28895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Logs • Sysmon • Wazuh/Elastic agent • PowerShell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3200400" cy="1234440"/>
          </a:xfrm>
          <a:prstGeom prst="roundRect">
            <a:avLst>
              <a:gd name="adj" fmla="val 1037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160520"/>
            <a:ext cx="45720" cy="1234440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32511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ENDPOINT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4709160"/>
            <a:ext cx="28895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logs • journald • process/network telemetry • agent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8321040" y="1645920"/>
            <a:ext cx="3200400" cy="1234440"/>
          </a:xfrm>
          <a:prstGeom prst="roundRect">
            <a:avLst>
              <a:gd name="adj" fmla="val 1037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645920"/>
            <a:ext cx="45720" cy="1234440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22208" y="181051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SENSOR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22208" y="2194560"/>
            <a:ext cx="28895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Zeek • Suricata • packet capture / imported PCAP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8321040" y="4160520"/>
            <a:ext cx="3200400" cy="1234440"/>
          </a:xfrm>
          <a:prstGeom prst="roundRect">
            <a:avLst>
              <a:gd name="adj" fmla="val 1037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4160520"/>
            <a:ext cx="45720" cy="1234440"/>
          </a:xfrm>
          <a:prstGeom prst="rect">
            <a:avLst/>
          </a:prstGeom>
          <a:solidFill>
            <a:srgbClr val="FF5F73"/>
          </a:solidFill>
          <a:ln w="12700">
            <a:solidFill>
              <a:srgbClr val="FF5F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22208" y="432511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SOURCE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22208" y="4709160"/>
            <a:ext cx="28895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Red Team • benign admin actions • curated PCAP/log datasets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3840480" y="2258568"/>
            <a:ext cx="731520" cy="530352"/>
          </a:xfrm>
          <a:prstGeom prst="line">
            <a:avLst/>
          </a:prstGeom>
          <a:noFill/>
          <a:ln w="25400">
            <a:solidFill>
              <a:srgbClr val="4285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840480" y="4736592"/>
            <a:ext cx="731520" cy="-1243584"/>
          </a:xfrm>
          <a:prstGeom prst="line">
            <a:avLst/>
          </a:prstGeom>
          <a:noFill/>
          <a:ln w="25400">
            <a:solidFill>
              <a:srgbClr val="4FE0A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321040" y="2258568"/>
            <a:ext cx="-777240" cy="530352"/>
          </a:xfrm>
          <a:prstGeom prst="line">
            <a:avLst/>
          </a:prstGeom>
          <a:noFill/>
          <a:ln w="25400">
            <a:solidFill>
              <a:srgbClr val="37D5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321040" y="4736592"/>
            <a:ext cx="-777240" cy="-1243584"/>
          </a:xfrm>
          <a:prstGeom prst="line">
            <a:avLst/>
          </a:prstGeom>
          <a:noFill/>
          <a:ln w="25400">
            <a:solidFill>
              <a:srgbClr val="FF5F73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554480" y="588873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D166"/>
                </a:solidFill>
              </a:rPr>
              <a:t>Budget rule: if setup consumes the study session, simplify the lab.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engineering — from behavior to reliable signal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detection should explain what behavior matters, what telemetry is required, and why the signal deserves attention.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2057400" cy="3246120"/>
          </a:xfrm>
          <a:prstGeom prst="roundRect">
            <a:avLst>
              <a:gd name="adj" fmla="val 6222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91640"/>
            <a:ext cx="45720" cy="3246120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85623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2240280"/>
            <a:ext cx="1746504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meaningful adversary or abuse behavior.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822960" y="43251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D5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15768" y="3200400"/>
            <a:ext cx="228600" cy="0"/>
          </a:xfrm>
          <a:prstGeom prst="line">
            <a:avLst/>
          </a:prstGeom>
          <a:noFill/>
          <a:ln w="22860">
            <a:solidFill>
              <a:srgbClr val="37D5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71800" y="1691640"/>
            <a:ext cx="2057400" cy="3246120"/>
          </a:xfrm>
          <a:prstGeom prst="roundRect">
            <a:avLst>
              <a:gd name="adj" fmla="val 6222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1691640"/>
            <a:ext cx="45720" cy="3246120"/>
          </a:xfrm>
          <a:prstGeom prst="rect">
            <a:avLst/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85623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72968" y="2240280"/>
            <a:ext cx="1746504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logs and fields that can observe it.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3136392" y="43251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85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3200400"/>
            <a:ext cx="228600" cy="0"/>
          </a:xfrm>
          <a:prstGeom prst="line">
            <a:avLst/>
          </a:prstGeom>
          <a:noFill/>
          <a:ln w="22860">
            <a:solidFill>
              <a:srgbClr val="4285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85232" y="1691640"/>
            <a:ext cx="2057400" cy="3246120"/>
          </a:xfrm>
          <a:prstGeom prst="roundRect">
            <a:avLst>
              <a:gd name="adj" fmla="val 6222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5232" y="1691640"/>
            <a:ext cx="45720" cy="3246120"/>
          </a:xfrm>
          <a:prstGeom prst="rect">
            <a:avLst/>
          </a:prstGeom>
          <a:solidFill>
            <a:srgbClr val="926BFF"/>
          </a:solidFill>
          <a:ln w="12700">
            <a:solidFill>
              <a:srgbClr val="92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85623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2240280"/>
            <a:ext cx="1746504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query / Sigma rule / analytic that finds the pattern.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5449824" y="43251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6B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42632" y="3200400"/>
            <a:ext cx="228600" cy="0"/>
          </a:xfrm>
          <a:prstGeom prst="line">
            <a:avLst/>
          </a:prstGeom>
          <a:noFill/>
          <a:ln w="22860">
            <a:solidFill>
              <a:srgbClr val="926B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98664" y="1691640"/>
            <a:ext cx="2057400" cy="3246120"/>
          </a:xfrm>
          <a:prstGeom prst="roundRect">
            <a:avLst>
              <a:gd name="adj" fmla="val 6222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98664" y="1691640"/>
            <a:ext cx="45720" cy="324612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99832" y="185623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99832" y="2240280"/>
            <a:ext cx="1746504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known activity and confirm the signal appears.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7763256" y="43251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547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56064" y="3200400"/>
            <a:ext cx="228600" cy="0"/>
          </a:xfrm>
          <a:prstGeom prst="line">
            <a:avLst/>
          </a:prstGeom>
          <a:noFill/>
          <a:ln w="22860">
            <a:solidFill>
              <a:srgbClr val="FFB547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912096" y="1691640"/>
            <a:ext cx="2057400" cy="3246120"/>
          </a:xfrm>
          <a:prstGeom prst="roundRect">
            <a:avLst>
              <a:gd name="adj" fmla="val 6222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12096" y="1691640"/>
            <a:ext cx="45720" cy="3246120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13264" y="185623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113264" y="2240280"/>
            <a:ext cx="1746504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false positives without hiding the behavior.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10076688" y="43251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E0A6"/>
                </a:solidFill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68680" y="534924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3F7FC"/>
                </a:solidFill>
              </a:rPr>
              <a:t>MITRE ATT&amp;CK v18 moved toward Detection Strategies and Analytics: think in behaviors + evidence requirements, not just “one rule per technique.”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463040" y="599846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0C8"/>
                </a:solidFill>
              </a:rPr>
              <a:t>Sigma remains a portable, YAML-based format for expressing log detections across SIEM ecosystems.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+ DFIR — investigate without destroying the story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matters, but evidence, scope, communication, and recovery matter too.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FF5F73">
              <a:alpha val="20000"/>
            </a:srgbClr>
          </a:solidFill>
          <a:ln w="12700">
            <a:solidFill>
              <a:srgbClr val="FF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/ DFIR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21792" y="1664208"/>
            <a:ext cx="3703320" cy="1115568"/>
          </a:xfrm>
          <a:prstGeom prst="roundRect">
            <a:avLst>
              <a:gd name="adj" fmla="val 1147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664208"/>
            <a:ext cx="45720" cy="1115568"/>
          </a:xfrm>
          <a:prstGeom prst="rect">
            <a:avLst/>
          </a:prstGeom>
          <a:solidFill>
            <a:srgbClr val="FF5F73"/>
          </a:solidFill>
          <a:ln w="12700">
            <a:solidFill>
              <a:srgbClr val="FF5F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33924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incident and establish confidence.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621792" y="3035808"/>
            <a:ext cx="3703320" cy="1115568"/>
          </a:xfrm>
          <a:prstGeom prst="roundRect">
            <a:avLst>
              <a:gd name="adj" fmla="val 1147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3035808"/>
            <a:ext cx="45720" cy="1115568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33924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prioritize, contain, coordinate, and preserve what matters.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21792" y="4407408"/>
            <a:ext cx="3703320" cy="1115568"/>
          </a:xfrm>
          <a:prstGeom prst="roundRect">
            <a:avLst>
              <a:gd name="adj" fmla="val 11475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4407408"/>
            <a:ext cx="45720" cy="1115568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572000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956048"/>
            <a:ext cx="33924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safely, monitor for recurrence, and validate normal operations.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4709160" y="1664208"/>
            <a:ext cx="6784848" cy="4315968"/>
          </a:xfrm>
          <a:prstGeom prst="roundRect">
            <a:avLst>
              <a:gd name="adj" fmla="val 2966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1938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C"/>
                </a:solidFill>
              </a:rPr>
              <a:t>Evidence disciplines worth learning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0" y="2468880"/>
            <a:ext cx="6126480" cy="2944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9DB0C8"/>
                </a:solidFill>
              </a:rPr>
              <a:t>Timeline thinking: what happened before, during, and after the alert.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9DB0C8"/>
                </a:solidFill>
              </a:rPr>
              <a:t>Volatile vs persistent evidence: know what disappears when a host changes state.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9DB0C8"/>
                </a:solidFill>
              </a:rPr>
              <a:t>Chain of custody and documentation for cases that may become legal, HR, or compliance matters.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9DB0C8"/>
                </a:solidFill>
              </a:rPr>
              <a:t>Endpoint triage: processes, autoruns, services, tasks, registry, browser/artifact history, network connections.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9DB0C8"/>
                </a:solidFill>
              </a:rPr>
              <a:t>Network forensics: DNS, sessions, JA4/TLS metadata where available, HTTP, SMB, packet evidence.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9DB0C8"/>
                </a:solidFill>
              </a:rPr>
              <a:t>Recovery validation: the incident is not over just because the process was killed.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5029200" y="5596128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37D5FF"/>
                </a:solidFill>
              </a:rPr>
              <a:t>NIST SP 800-61 Rev. 3 (2025) aligns incident response with CSF 2.0 and emphasizes Detect → Respond → Recover with continuous improvement.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hunting + Purple Team 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Hunting asks a question. Purple teaming tests whether your defenses can answer 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→ TEST → IMPROVE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3337560" cy="4206240"/>
          </a:xfrm>
          <a:prstGeom prst="roundRect">
            <a:avLst>
              <a:gd name="adj" fmla="val 3836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64208"/>
            <a:ext cx="45720" cy="4206240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2880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HUNTING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2212848"/>
            <a:ext cx="3026664" cy="3493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hypothesis, not a dashboard.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pattern: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“Could a compromised user execute unusual remote admin activity without generating a useful signal?”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across authentication, process, network, and remote-management telemetry.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407408" y="1664208"/>
            <a:ext cx="3337560" cy="4206240"/>
          </a:xfrm>
          <a:prstGeom prst="roundRect">
            <a:avLst>
              <a:gd name="adj" fmla="val 3836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664208"/>
            <a:ext cx="45720" cy="4206240"/>
          </a:xfrm>
          <a:prstGeom prst="rect">
            <a:avLst/>
          </a:prstGeom>
          <a:solidFill>
            <a:srgbClr val="926BFF"/>
          </a:solidFill>
          <a:ln w="12700">
            <a:solidFill>
              <a:srgbClr val="92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82880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VALIDATION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08576" y="2212848"/>
            <a:ext cx="3026664" cy="3493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a safe, authorized behavior in the lab.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Atomic Red Team or controlled manual actions. Observe what telemetry appears, which detections fire, and what the analyst can actually conclude.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174736" y="1664208"/>
            <a:ext cx="3337560" cy="4206240"/>
          </a:xfrm>
          <a:prstGeom prst="roundRect">
            <a:avLst>
              <a:gd name="adj" fmla="val 3836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74736" y="1664208"/>
            <a:ext cx="45720" cy="4206240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182880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LOOP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75904" y="2212848"/>
            <a:ext cx="3026664" cy="3493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missing telemetry. Write or tune detections. Update playbooks. Improve enrichment. Re-run the same test.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is not “we generated an alert.” Success is “an analyst can detect, investigate, and respond correctly.”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3977640" y="3703320"/>
            <a:ext cx="429768" cy="0"/>
          </a:xfrm>
          <a:prstGeom prst="line">
            <a:avLst/>
          </a:prstGeom>
          <a:noFill/>
          <a:ln w="25400">
            <a:solidFill>
              <a:srgbClr val="37D5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44968" y="3703320"/>
            <a:ext cx="429768" cy="0"/>
          </a:xfrm>
          <a:prstGeom prst="line">
            <a:avLst/>
          </a:prstGeom>
          <a:noFill/>
          <a:ln w="25400">
            <a:solidFill>
              <a:srgbClr val="926BFF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and genuinely useful places to learn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resources that make you inspect evidence, explain conclusions, or build detections.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LEARNING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21792" y="1572768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72768"/>
            <a:ext cx="45720" cy="1024128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822960" y="172821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u="sng" dirty="0">
                <a:solidFill>
                  <a:srgbClr val="F3F7FC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MITRE ATT&amp;CK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2770632" y="1719072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Behavior mapping, Detection Strategies, Analytics, technique context</a:t>
            </a:r>
            <a:endParaRPr lang="en-US" sz="97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2770632" y="22860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u="sng" dirty="0">
                <a:solidFill>
                  <a:srgbClr val="37D5F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attack.mitre.org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336792" y="1572768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36792" y="1572768"/>
            <a:ext cx="45720" cy="1024128"/>
          </a:xfrm>
          <a:prstGeom prst="rect">
            <a:avLst/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6537960" y="172821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u="sng" dirty="0">
                <a:solidFill>
                  <a:srgbClr val="F3F7FC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Sigma HQ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8485632" y="1719072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Portable detection rules, rule structure, log-source thinking</a:t>
            </a:r>
            <a:endParaRPr lang="en-US" sz="970" dirty="0"/>
          </a:p>
        </p:txBody>
      </p:sp>
      <p:sp>
        <p:nvSpPr>
          <p:cNvPr id="15" name="Text 13">
            <a:hlinkClick r:id="rId4" tooltip=""/>
          </p:cNvPr>
          <p:cNvSpPr/>
          <p:nvPr/>
        </p:nvSpPr>
        <p:spPr>
          <a:xfrm>
            <a:off x="8485632" y="22860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u="sng" dirty="0">
                <a:solidFill>
                  <a:srgbClr val="4285FF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sigmahq.io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21792" y="2761488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2761488"/>
            <a:ext cx="45720" cy="1024128"/>
          </a:xfrm>
          <a:prstGeom prst="rect">
            <a:avLst/>
          </a:prstGeom>
          <a:solidFill>
            <a:srgbClr val="926BFF"/>
          </a:solidFill>
          <a:ln w="12700">
            <a:solidFill>
              <a:srgbClr val="926BFF"/>
            </a:solidFill>
            <a:prstDash val="solid"/>
          </a:ln>
        </p:spPr>
      </p:sp>
      <p:sp>
        <p:nvSpPr>
          <p:cNvPr id="18" name="Text 16">
            <a:hlinkClick r:id="rId5" tooltip=""/>
          </p:cNvPr>
          <p:cNvSpPr/>
          <p:nvPr/>
        </p:nvSpPr>
        <p:spPr>
          <a:xfrm>
            <a:off x="822960" y="291693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u="sng" dirty="0">
                <a:solidFill>
                  <a:srgbClr val="F3F7FC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 Onion Docs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2770632" y="2907792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Free defender platform; Zeek, Suricata, endpoint visibility, hunt/cases</a:t>
            </a:r>
            <a:endParaRPr lang="en-US" sz="970" dirty="0"/>
          </a:p>
        </p:txBody>
      </p:sp>
      <p:sp>
        <p:nvSpPr>
          <p:cNvPr id="20" name="Text 18">
            <a:hlinkClick r:id="rId6" tooltip=""/>
          </p:cNvPr>
          <p:cNvSpPr/>
          <p:nvPr/>
        </p:nvSpPr>
        <p:spPr>
          <a:xfrm>
            <a:off x="2770632" y="347472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u="sng" dirty="0">
                <a:solidFill>
                  <a:srgbClr val="926BFF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docs.securityonion.net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336792" y="2761488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6792" y="2761488"/>
            <a:ext cx="45720" cy="1024128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23" name="Text 21">
            <a:hlinkClick r:id="rId7" tooltip=""/>
          </p:cNvPr>
          <p:cNvSpPr/>
          <p:nvPr/>
        </p:nvSpPr>
        <p:spPr>
          <a:xfrm>
            <a:off x="6537960" y="291693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u="sng" dirty="0">
                <a:solidFill>
                  <a:srgbClr val="F3F7FC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Wazuh Docs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8485632" y="2907792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Free/open SIEM + XDR platform; endpoint telemetry and threat hunting</a:t>
            </a:r>
            <a:endParaRPr lang="en-US" sz="970" dirty="0"/>
          </a:p>
        </p:txBody>
      </p:sp>
      <p:sp>
        <p:nvSpPr>
          <p:cNvPr id="25" name="Text 23">
            <a:hlinkClick r:id="rId8" tooltip=""/>
          </p:cNvPr>
          <p:cNvSpPr/>
          <p:nvPr/>
        </p:nvSpPr>
        <p:spPr>
          <a:xfrm>
            <a:off x="8485632" y="347472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u="sng" dirty="0">
                <a:solidFill>
                  <a:srgbClr val="4FE0A6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documentation.wazuh.com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21792" y="3950208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3950208"/>
            <a:ext cx="45720" cy="1024128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8" name="Text 26">
            <a:hlinkClick r:id="rId9" tooltip=""/>
          </p:cNvPr>
          <p:cNvSpPr/>
          <p:nvPr/>
        </p:nvSpPr>
        <p:spPr>
          <a:xfrm>
            <a:off x="822960" y="410565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u="sng" dirty="0">
                <a:solidFill>
                  <a:srgbClr val="F3F7FC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LetsDefend — free content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2770632" y="4096512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SOC Fundamentals, Windows Fundamentals, SIEM 101 + selected free practice</a:t>
            </a:r>
            <a:endParaRPr lang="en-US" sz="970" dirty="0"/>
          </a:p>
        </p:txBody>
      </p:sp>
      <p:sp>
        <p:nvSpPr>
          <p:cNvPr id="30" name="Text 28">
            <a:hlinkClick r:id="rId10" tooltip=""/>
          </p:cNvPr>
          <p:cNvSpPr/>
          <p:nvPr/>
        </p:nvSpPr>
        <p:spPr>
          <a:xfrm>
            <a:off x="2770632" y="466344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u="sng" dirty="0">
                <a:solidFill>
                  <a:srgbClr val="FFB547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letsdefend.io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336792" y="3950208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36792" y="3950208"/>
            <a:ext cx="45720" cy="1024128"/>
          </a:xfrm>
          <a:prstGeom prst="rect">
            <a:avLst/>
          </a:prstGeom>
          <a:solidFill>
            <a:srgbClr val="FF5F73"/>
          </a:solidFill>
          <a:ln w="12700">
            <a:solidFill>
              <a:srgbClr val="FF5F73"/>
            </a:solidFill>
            <a:prstDash val="solid"/>
          </a:ln>
        </p:spPr>
      </p:sp>
      <p:sp>
        <p:nvSpPr>
          <p:cNvPr id="33" name="Text 31">
            <a:hlinkClick r:id="rId11" tooltip=""/>
          </p:cNvPr>
          <p:cNvSpPr/>
          <p:nvPr/>
        </p:nvSpPr>
        <p:spPr>
          <a:xfrm>
            <a:off x="6537960" y="410565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u="sng" dirty="0">
                <a:solidFill>
                  <a:srgbClr val="F3F7FC"/>
                </a:solidFill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CyberDefenders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8485632" y="4096512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Blue-team CTF challenges covering network forensics, malware, cloud, logs</a:t>
            </a:r>
            <a:endParaRPr lang="en-US" sz="970" dirty="0"/>
          </a:p>
        </p:txBody>
      </p:sp>
      <p:sp>
        <p:nvSpPr>
          <p:cNvPr id="35" name="Text 33">
            <a:hlinkClick r:id="rId12" tooltip=""/>
          </p:cNvPr>
          <p:cNvSpPr/>
          <p:nvPr/>
        </p:nvSpPr>
        <p:spPr>
          <a:xfrm>
            <a:off x="8485632" y="466344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u="sng" dirty="0">
                <a:solidFill>
                  <a:srgbClr val="FF5F73"/>
                </a:solidFill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cyberdefenders.org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21792" y="5138928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" y="5138928"/>
            <a:ext cx="45720" cy="1024128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38" name="Text 36">
            <a:hlinkClick r:id="rId13" tooltip=""/>
          </p:cNvPr>
          <p:cNvSpPr/>
          <p:nvPr/>
        </p:nvSpPr>
        <p:spPr>
          <a:xfrm>
            <a:off x="822960" y="52943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u="sng" dirty="0">
                <a:solidFill>
                  <a:srgbClr val="F3F7FC"/>
                </a:solidFill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Malware-Traffic-Analysis.net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2770632" y="5285232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Current PCAP exercises with realistic malware/network traffic</a:t>
            </a:r>
            <a:endParaRPr lang="en-US" sz="970" dirty="0"/>
          </a:p>
        </p:txBody>
      </p:sp>
      <p:sp>
        <p:nvSpPr>
          <p:cNvPr id="40" name="Text 38">
            <a:hlinkClick r:id="rId14" tooltip=""/>
          </p:cNvPr>
          <p:cNvSpPr/>
          <p:nvPr/>
        </p:nvSpPr>
        <p:spPr>
          <a:xfrm>
            <a:off x="2770632" y="585216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u="sng" dirty="0">
                <a:solidFill>
                  <a:srgbClr val="37D5FF"/>
                </a:solidFill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www.malware-traffic-analysis.net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336792" y="5138928"/>
            <a:ext cx="5440680" cy="1024128"/>
          </a:xfrm>
          <a:prstGeom prst="roundRect">
            <a:avLst>
              <a:gd name="adj" fmla="val 12500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36792" y="5138928"/>
            <a:ext cx="45720" cy="1024128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43" name="Text 41">
            <a:hlinkClick r:id="rId15" tooltip=""/>
          </p:cNvPr>
          <p:cNvSpPr/>
          <p:nvPr/>
        </p:nvSpPr>
        <p:spPr>
          <a:xfrm>
            <a:off x="6537960" y="52943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u="sng" dirty="0">
                <a:solidFill>
                  <a:srgbClr val="F3F7FC"/>
                </a:solidFill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CISA / NIST</a:t>
            </a:r>
            <a:endParaRPr lang="en-US" sz="1320" dirty="0"/>
          </a:p>
        </p:txBody>
      </p:sp>
      <p:sp>
        <p:nvSpPr>
          <p:cNvPr id="44" name="Text 42"/>
          <p:cNvSpPr/>
          <p:nvPr/>
        </p:nvSpPr>
        <p:spPr>
          <a:xfrm>
            <a:off x="8485632" y="5285232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DB0C8"/>
                </a:solidFill>
              </a:rPr>
              <a:t>Incident-response guidance, no-cost training resources, playbooks, standards</a:t>
            </a:r>
            <a:endParaRPr lang="en-US" sz="970" dirty="0"/>
          </a:p>
        </p:txBody>
      </p:sp>
      <p:sp>
        <p:nvSpPr>
          <p:cNvPr id="45" name="Text 43">
            <a:hlinkClick r:id="rId16" tooltip=""/>
          </p:cNvPr>
          <p:cNvSpPr/>
          <p:nvPr/>
        </p:nvSpPr>
        <p:spPr>
          <a:xfrm>
            <a:off x="8485632" y="585216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u="sng" dirty="0">
                <a:solidFill>
                  <a:srgbClr val="4FE0A6"/>
                </a:solidFill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www.cisa.gov/ | https://csrc.nist.gov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90-day starter sprint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people with limited time: learn, investigate, document, repeat.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21792" y="1664208"/>
            <a:ext cx="3456432" cy="4251960"/>
          </a:xfrm>
          <a:prstGeom prst="roundRect">
            <a:avLst>
              <a:gd name="adj" fmla="val 3704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664208"/>
            <a:ext cx="3456432" cy="82296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D5FF"/>
                </a:solidFill>
              </a:rPr>
              <a:t>DAYS 1–30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7FC"/>
                </a:solidFill>
              </a:rPr>
              <a:t>FOUNDATIONS + LOGS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9536" y="2971800"/>
            <a:ext cx="28346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Networking refresh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Windows Event Viewer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Sysmon / process trees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Linux auth + journald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Wireshark basics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Write 4 mini incident notes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4425696" y="1664208"/>
            <a:ext cx="3456432" cy="4251960"/>
          </a:xfrm>
          <a:prstGeom prst="roundRect">
            <a:avLst>
              <a:gd name="adj" fmla="val 3704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664208"/>
            <a:ext cx="3456432" cy="82296"/>
          </a:xfrm>
          <a:prstGeom prst="rect">
            <a:avLst/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F"/>
                </a:solidFill>
              </a:rPr>
              <a:t>DAYS 31–60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26864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7FC"/>
                </a:solidFill>
              </a:rPr>
              <a:t>SIEM + INVESTIGATION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2971800"/>
            <a:ext cx="28346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Deploy Wazuh or use a hosted/free lab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Onboard Windows + Linux telemetry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Practice searches and pivots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Investigate 6 alerts / datasets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Start MITRE ATT&amp;CK mapping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Build one timeline from evidence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8229600" y="1664208"/>
            <a:ext cx="3456432" cy="4251960"/>
          </a:xfrm>
          <a:prstGeom prst="roundRect">
            <a:avLst>
              <a:gd name="adj" fmla="val 3704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664208"/>
            <a:ext cx="3456432" cy="82296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E0A6"/>
                </a:solidFill>
              </a:rPr>
              <a:t>DAYS 61–90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30768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3F7FC"/>
                </a:solidFill>
              </a:rPr>
              <a:t>DETECTION + PORTFOLIO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67344" y="2971800"/>
            <a:ext cx="28346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Write 3 Sigma rules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Run safe validation tests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Analyze 2 PCAP exercises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Tune one noisy detection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Create one incident report</a:t>
            </a:r>
            <a:endParaRPr lang="en-US" sz="1070" dirty="0"/>
          </a:p>
          <a:p>
            <a:pPr marL="177800" indent="-177800">
              <a:buSzPct val="100000"/>
              <a:buChar char="•"/>
            </a:pPr>
            <a:r>
              <a:rPr lang="en-US" sz="1070" dirty="0">
                <a:solidFill>
                  <a:srgbClr val="9DB0C8"/>
                </a:solidFill>
              </a:rPr>
              <a:t>Publish sanitized findings to GitHub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822960" y="6126480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D166"/>
                </a:solidFill>
              </a:rPr>
              <a:t>After 90 days you should have evidence of skill: queries, notes, timelines, detections, PCAP analysis, and a small lab—not just completed videos.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proof, not just badges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hiring manager cannot see what you learned in your head. Make the work visible.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28800" cy="310896"/>
          </a:xfrm>
          <a:prstGeom prst="roundRect">
            <a:avLst/>
          </a:prstGeom>
          <a:solidFill>
            <a:srgbClr val="37D5FF">
              <a:alpha val="20000"/>
            </a:srgbClr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9844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21792" y="1645920"/>
            <a:ext cx="3520440" cy="1371600"/>
          </a:xfrm>
          <a:prstGeom prst="roundRect">
            <a:avLst>
              <a:gd name="adj" fmla="val 9333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645920"/>
            <a:ext cx="45720" cy="1371600"/>
          </a:xfrm>
          <a:prstGeom prst="rect">
            <a:avLst/>
          </a:prstGeom>
          <a:solidFill>
            <a:srgbClr val="37D5FF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10512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WRITE-UP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3209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summary • evidence • timeline • pivots • conclusion • confidence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16552" y="1645920"/>
            <a:ext cx="3520440" cy="1371600"/>
          </a:xfrm>
          <a:prstGeom prst="roundRect">
            <a:avLst>
              <a:gd name="adj" fmla="val 9333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1645920"/>
            <a:ext cx="45720" cy="1371600"/>
          </a:xfrm>
          <a:prstGeom prst="rect">
            <a:avLst/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10512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PROJECT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2194560"/>
            <a:ext cx="3209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• required telemetry • Sigma/query • test data • false-positive notes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211312" y="1645920"/>
            <a:ext cx="3520440" cy="1371600"/>
          </a:xfrm>
          <a:prstGeom prst="roundRect">
            <a:avLst>
              <a:gd name="adj" fmla="val 9333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645920"/>
            <a:ext cx="45720" cy="1371600"/>
          </a:xfrm>
          <a:prstGeom prst="rect">
            <a:avLst/>
          </a:prstGeom>
          <a:solidFill>
            <a:srgbClr val="926BFF"/>
          </a:solidFill>
          <a:ln w="12700">
            <a:solidFill>
              <a:srgbClr val="92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810512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PCAP CASE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12480" y="2194560"/>
            <a:ext cx="3209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summary • DNS/HTTP/TLS observations • IOCs • timeline • ATT&amp;CK mapping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21792" y="3273552"/>
            <a:ext cx="3520440" cy="1371600"/>
          </a:xfrm>
          <a:prstGeom prst="roundRect">
            <a:avLst>
              <a:gd name="adj" fmla="val 9333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273552"/>
            <a:ext cx="45720" cy="137160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438144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LAB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3822192"/>
            <a:ext cx="3209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• log sources • screenshots • sample searches • lessons learned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416552" y="3273552"/>
            <a:ext cx="3520440" cy="1371600"/>
          </a:xfrm>
          <a:prstGeom prst="roundRect">
            <a:avLst>
              <a:gd name="adj" fmla="val 9333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16552" y="3273552"/>
            <a:ext cx="45720" cy="1371600"/>
          </a:xfrm>
          <a:prstGeom prst="rect">
            <a:avLst/>
          </a:prstGeom>
          <a:solidFill>
            <a:srgbClr val="4FE0A6"/>
          </a:solidFill>
          <a:ln w="12700">
            <a:solidFill>
              <a:srgbClr val="4FE0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438144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617720" y="3822192"/>
            <a:ext cx="3209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• technical findings • scope • impact • actions • recommendations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211312" y="3273552"/>
            <a:ext cx="3520440" cy="1371600"/>
          </a:xfrm>
          <a:prstGeom prst="roundRect">
            <a:avLst>
              <a:gd name="adj" fmla="val 9333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11312" y="3273552"/>
            <a:ext cx="45720" cy="1371600"/>
          </a:xfrm>
          <a:prstGeom prst="rect">
            <a:avLst/>
          </a:prstGeom>
          <a:solidFill>
            <a:srgbClr val="FF5F73"/>
          </a:solidFill>
          <a:ln w="12700">
            <a:solidFill>
              <a:srgbClr val="FF5F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3438144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TEST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412480" y="3822192"/>
            <a:ext cx="32095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simulated • expected telemetry • observed telemetry • detection gap • retest result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1097280" y="5074920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7FC"/>
                </a:solidFill>
              </a:rPr>
              <a:t>Use GitHub for the permanent technical record. Use LinkedIn to explain what you learned and invite professional feedback.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34440" y="5715000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0C8"/>
                </a:solidFill>
              </a:rPr>
              <a:t>Honesty beats inflated titles: “Here is the evidence I analyzed, how I reasoned through it, what I got wrong, and what I improved.”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defender’s operating principle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normal. Collect evidence. Investigate deliberately. Improve the system.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561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D5FF"/>
                </a:solidFill>
              </a:rPr>
              <a:t>See → Decide → Act → Improve → Retest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2331720"/>
            <a:ext cx="6784848" cy="3163824"/>
          </a:xfrm>
          <a:prstGeom prst="roundRect">
            <a:avLst>
              <a:gd name="adj" fmla="val 4046"/>
            </a:avLst>
          </a:prstGeom>
          <a:solidFill>
            <a:srgbClr val="0D1D31"/>
          </a:solidFill>
          <a:ln w="12700">
            <a:solidFill>
              <a:srgbClr val="20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633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C"/>
                </a:solidFill>
              </a:rPr>
              <a:t>Primary references used for this 2026 edition</a:t>
            </a:r>
            <a:endParaRPr lang="en-US" sz="17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1024128" y="3090672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u="sng" dirty="0">
                <a:solidFill>
                  <a:srgbClr val="9DB0C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MITRE ATT&amp;CK — Detection Strategies / Analytics</a:t>
            </a:r>
            <a:endParaRPr lang="en-US" sz="98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1024128" y="3401568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u="sng" dirty="0">
                <a:solidFill>
                  <a:srgbClr val="9DB0C8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Sigma HQ — detection format and rule docs</a:t>
            </a:r>
            <a:endParaRPr lang="en-US" sz="98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1024128" y="3712464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u="sng" dirty="0">
                <a:solidFill>
                  <a:srgbClr val="9DB0C8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Microsoft Sysmon documentation</a:t>
            </a:r>
            <a:endParaRPr lang="en-US" sz="980" dirty="0"/>
          </a:p>
        </p:txBody>
      </p:sp>
      <p:sp>
        <p:nvSpPr>
          <p:cNvPr id="10" name="Text 8">
            <a:hlinkClick r:id="rId4" tooltip=""/>
          </p:cNvPr>
          <p:cNvSpPr/>
          <p:nvPr/>
        </p:nvSpPr>
        <p:spPr>
          <a:xfrm>
            <a:off x="1024128" y="402336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u="sng" dirty="0">
                <a:solidFill>
                  <a:srgbClr val="9DB0C8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Security Onion documentation</a:t>
            </a:r>
            <a:endParaRPr lang="en-US" sz="980" dirty="0"/>
          </a:p>
        </p:txBody>
      </p:sp>
      <p:sp>
        <p:nvSpPr>
          <p:cNvPr id="11" name="Text 9">
            <a:hlinkClick r:id="rId5" tooltip=""/>
          </p:cNvPr>
          <p:cNvSpPr/>
          <p:nvPr/>
        </p:nvSpPr>
        <p:spPr>
          <a:xfrm>
            <a:off x="1024128" y="4334256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u="sng" dirty="0">
                <a:solidFill>
                  <a:srgbClr val="9DB0C8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Wazuh documentation</a:t>
            </a:r>
            <a:endParaRPr lang="en-US" sz="980" dirty="0"/>
          </a:p>
        </p:txBody>
      </p:sp>
      <p:sp>
        <p:nvSpPr>
          <p:cNvPr id="12" name="Text 10">
            <a:hlinkClick r:id="rId6" tooltip=""/>
          </p:cNvPr>
          <p:cNvSpPr/>
          <p:nvPr/>
        </p:nvSpPr>
        <p:spPr>
          <a:xfrm>
            <a:off x="1024128" y="4645152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u="sng" dirty="0">
                <a:solidFill>
                  <a:srgbClr val="9DB0C8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NIST SP 800-61 Rev. 3 — Incident Response</a:t>
            </a:r>
            <a:endParaRPr lang="en-US" sz="980" dirty="0"/>
          </a:p>
        </p:txBody>
      </p:sp>
      <p:sp>
        <p:nvSpPr>
          <p:cNvPr id="13" name="Text 11">
            <a:hlinkClick r:id="rId7" tooltip=""/>
          </p:cNvPr>
          <p:cNvSpPr/>
          <p:nvPr/>
        </p:nvSpPr>
        <p:spPr>
          <a:xfrm>
            <a:off x="1024128" y="4956048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u="sng" dirty="0">
                <a:solidFill>
                  <a:srgbClr val="9DB0C8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Zeek / Suricata / Velociraptor / osquery official docs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7818120" y="2331720"/>
            <a:ext cx="3639312" cy="3163824"/>
          </a:xfrm>
          <a:prstGeom prst="roundRect">
            <a:avLst>
              <a:gd name="adj" fmla="val 4046"/>
            </a:avLst>
          </a:prstGeom>
          <a:solidFill>
            <a:srgbClr val="0B2237"/>
          </a:solidFill>
          <a:ln w="12700">
            <a:solidFill>
              <a:srgbClr val="37D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6700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D5FF"/>
                </a:solidFill>
              </a:rPr>
              <a:t>PROJECT ACKNOWLEDGMENT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65592" y="3154680"/>
            <a:ext cx="2898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F7FC"/>
                </a:solidFill>
              </a:rPr>
              <a:t>This educational roadmap was created by Sebastian Romero with the assistance of ChatGPT by OpenAI.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7032" y="4315968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0C8"/>
                </a:solidFill>
              </a:rPr>
              <a:t>Built to help beginners find a structured path into defensive cybersecurity and share practical knowledge freely with the community.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592531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E0A6"/>
                </a:solidFill>
              </a:rPr>
              <a:t>Use it. Question it. Improve it. Share what you learn.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Community Learning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Team &amp; SOC Analyst Roadmap 2026</dc:title>
  <dc:subject>Blue Team &amp; SOC Analyst Roadmap 2026</dc:subject>
  <dc:creator>Sebastian Romero with the assistance of ChatGPT by OpenAI</dc:creator>
  <cp:lastModifiedBy>Sebastian Romero with the assistance of ChatGPT by OpenAI</cp:lastModifiedBy>
  <cp:revision>1</cp:revision>
  <dcterms:created xsi:type="dcterms:W3CDTF">2026-10-05T10:49:21Z</dcterms:created>
  <dcterms:modified xsi:type="dcterms:W3CDTF">2026-10-05T10:49:21Z</dcterms:modified>
</cp:coreProperties>
</file>